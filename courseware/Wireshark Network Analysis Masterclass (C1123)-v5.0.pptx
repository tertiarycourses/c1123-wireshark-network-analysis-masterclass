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Wireshark Network Analysis Masterclass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C1123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v5.0  ·  5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specialises in networking, cyber security, cloud and AI.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network analysis, cyber security, cloud and AI for Tertiary Infotech Academy.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Wireshark or network troubleshooting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slow or broken network problem you would like to be able to explain with packets.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 to lms-tms.tertiaryinfotech.com.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Enter your registered email and click Send OTP.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in the one-time password from your inbox to log in.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Open this course to download the slides, Learner Guide and Lesson Plan.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them open during class — refer to them as you work through each lab.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1937741"/>
            <a:ext cx="6007608" cy="385119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ms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992605"/>
            <a:ext cx="5897880" cy="37414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Lesson Plan — 4 Days, 8 hours/day (Days 1–2)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Capture and analyst workflow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Introduction to Network Analysis and Wireshark (Lab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Capture Methods and Capture Filters (Lab 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Global Preferences and Troubleshooting Profiles (Lab 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Navigation and Coloring Techniques (Lab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Time, statistics, filters and DNS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Time Values and Delay Types (Lab 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6: Trace Statistics and VoIP Overview (Lab 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7: Display Filters (Lab 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8: TCP/IP Communications and Resolution (Lab 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9: DNS Traffic Analysis (Lab 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Lesson Plan — 4 Days, 8 hours/day (Days 3–4)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IP and transport diagnostics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10: ARP Traffic Analysis (Lab 10)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11: IPv4 Traffic Analysis (Lab 11)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12: ICMP Traffic Analysis (Lab 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13: UDP Traffic Analysis (Lab 13)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14: TCP Protocol Analysis (Lab 14)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4 — Graphs, applications and reporting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15: Traffic Graphs (Lab 15)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16: HTTP and HTTP/2 Analysis (Lab 16)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17: TLS-Encrypted Traffic Analysis (Lab 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18: Ten Troubleshooting Steps and Reporting (Lab 18)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 training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Capture &amp; profile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Plan scoped captures and configure a reproducible analyst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Navigate &amp; time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Navigate, filter, summarize and time network exchanges.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Core protocols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Interpret DNS, ARP, IPv4, ICMP and UDP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TCP &amp;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Diagnose TCP and application behaviour, including HTTP and authorised TLS inspection.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 reporting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Report observed facts, hypotheses and next actions with defensible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Network Analysis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Wireshark?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Packet analyzer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Captures packets and presents every field it can decode — a measuring device for the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Free and open source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Cross-platform (Windows, macOS, Linux) with TShark as its command-line twin.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3,000+ protocols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Dissectors decode Ethernet to HTTP/2, DNS, TLS, SIP/RTP and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Evidence, not opinion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claim cites a frame number, a filter and a measurement.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 Uses Wireshark —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administrators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Troubleshoot slow and failing connections.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 analysts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Examine suspicious conversations and indicators.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QA and developers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and debug protocol implementations.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 engineers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Prove where a delay or failure actually occurs.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See how network protocols really behave on the wire.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Incident responders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Preserve packet evidence for a report.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ANALYST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Capture the evidence. Explain the uncertainty.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trace is a measurement at one observation point — this course teaches you to say exactly what it proves and what it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Four Days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Capture &amp; navigate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Place the capture point correctly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reproducible analyst profile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Colour, time and filter efficiently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Protocols &amp;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DNS, ARP, IPv4, ICMP, UDP evidence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TCP handshake, loss, retransmission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Zero window and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Applications &amp;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I/O, RTT and Stevens graphs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HTTP outcomes, HTTP/2 and TLS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evidence-led incident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 the lab's own synthetic capture — no live network traffic is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lab filter and locate the frames that answer the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frame numbers, measurements and one limitation in outputs/findings.md.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Run scripts/verify.py — it confirms the capture facts your findings rely 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Network Analysis and Wireshark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Establish a trace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Introduction to Network Analysis and Wireshark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capture is a measurement at one observation point, not a complete network history.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Packet list, protocol details and bytes connect a summary to the underlying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interface, timestamp precision, dropped packets and capture scope before interpreting a trace.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REFRESHER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TCP/IP and OSI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OSI model has seven layers; TCP/IP folds them into four.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Wireshark's Packet Details pane is ordered the same way — frame, Ethernet, IP, TCP/UDP, application.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Locate each fault at a layer before you choose a filter.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7849" y="1819655"/>
            <a:ext cx="5977862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713" y="1874519"/>
            <a:ext cx="5868134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OSI layers mapped to the TCP/IP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Building a 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Each layer wraps the one above: an application payload gains TCP, IP and Ethernet headers.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MAC addresses change at every hop; IP addresses stay end-to-end (unless NAT rewrites them).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Ports identify the conversation on each host.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328574"/>
            <a:ext cx="6007608" cy="306952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383438"/>
            <a:ext cx="5897880" cy="29598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Encapsulation of an FTP request from client A to server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Flow Through the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 passes down the sender's stack, across switches and routers, and up the receiver's stack.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Switches forward on MAC; routers forward on IP.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Where you capture decides which hops you can see.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6350" y="1819655"/>
            <a:ext cx="3600860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214" y="1874519"/>
            <a:ext cx="3491132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Process-to-process, host-to-host and hop-by-hop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Inside Wireshark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capture engine collects packets through libpcap / Npcap.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Wiretap reads and writes trace formats: pcap, pcapng, snoop and more.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Dissectors decode each protocol; display filters operate on the dissected fields.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87193" y="1819655"/>
            <a:ext cx="5479174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57" y="1874519"/>
            <a:ext cx="5369446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Packet processing elements (the GUI is Qt-based in current releases)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Wireshark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Packet List — one summary row per frame.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Packet Details — the decoded protocol tree.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Packet Bytes — the raw hex for the selected field.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Status bar — packet counts, profile and file information.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4909" y="1819655"/>
            <a:ext cx="5403742" cy="408736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773" y="1874519"/>
            <a:ext cx="5294014" cy="39776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three main panes plus toolbars and status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Main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02098" y="1792224"/>
            <a:ext cx="7187499" cy="4206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f-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2" y="1847088"/>
            <a:ext cx="7077771" cy="4096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108192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Start/stop capture, open/save, find and go-to packet, colourise and zoom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Display Filter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2151343"/>
            <a:ext cx="10076688" cy="348800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f-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2206207"/>
            <a:ext cx="9966960" cy="3378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108192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Green = valid expression, red = invalid; bookmark saved filters and add filter buttons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Status Bar and Intelligent Scrollbar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status bar shows packets captured vs. displayed and the active profile.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intelligent scrollbar mirrors packet colouring — red/black bands reveal resets, aborts or low-TTL packets at a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282000"/>
            <a:ext cx="6007608" cy="31626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336864"/>
            <a:ext cx="5897880" cy="30529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Coloured scrollbar bands mark problem packets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 a trace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 capture is a measurement at one observation point, not a complete network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166244"/>
            <a:ext cx="10076688" cy="14581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1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221108"/>
            <a:ext cx="9966960" cy="13484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 a trace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 a trace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data/branch-office.pcap with File &gt; Open. Clear the display filter. Record the packet count from the status bar and the capture duration from Statistics &gt; Capture File Properties.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 a trace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Select frame 1. Expand Ethernet II and Address Resolution Protocol in Packet Details. Click the sender IP field and observe the corresponding 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 a trace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arp in the display filter toolbar. Compare request and reply sender/target IP and MAC addresses. Save the two frame numbers in outputs/findings.md.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 a trace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 a trace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arp expression matches 2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Recap — Introduction to Network Analysis and Wireshark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plan scoped captures and configure a reproducible analyst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capture is a measurement at one observation point, not a complete network history.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Packet list, protocol details and bytes connect a summary to the underlying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interface, timestamp precision, dropped packets and capture scope before interpreting a trace.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Capture Methods and Capture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Plan capture 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Capture Methods and Capture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switched access port normally observes its own traffic and broadcasts; SPAN or TAP placement changes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Capture filters use libpcap syntax before packets are stored; display filters hide or show stored packets.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 file size and duration; check capture drops before attributing missing packets to network loss.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CAPTURE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to Tap Into the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Client A complains about reaching the servers — where do you put the analyzer?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Capture as close as possible to the complaining host first, then move toward the servers.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Each point sees only the traffic that physically passes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163030"/>
            <a:ext cx="6007608" cy="34006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17894"/>
            <a:ext cx="5897880" cy="3290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the observation point before you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SWITCHED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 Switch Port Can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Switch port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Ways to see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Broadcast traffic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Multicast traffic (if forwarded)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Traffic to and from your own host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Not other hosts' unicast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Hub in half-duplex segment (lab only)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Network TAP — passive, in-line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SPAN / port mirroring on the switch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Capture on the target host itself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Access Points (TAPs)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TAP sits in-line and passively copies traffic to the analyzer.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Full-duplex TAPs forward both directions — and can pass physical-layer errors.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Aggregating TAPs merge both directions onto one monitor 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34187" y="1819655"/>
            <a:ext cx="5385185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051" y="1874519"/>
            <a:ext cx="5275457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non-aggregating TAP with two monitor 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Aggregating vs Non-aggregating TAPs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2447041"/>
            <a:ext cx="10076688" cy="289660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f-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2501905"/>
            <a:ext cx="9966960" cy="27868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Non-aggregating: one port per direction. Aggregating: both directions combined on one port — can oversubscribe at high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SPAN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SPAN / Port Mirroring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switch copies traffic from source ports or VLANs to a destination port.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Mirrored traffic can drop under load and normally excludes errored frames.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Example (Cisco): monitor session 1 source interface g1/0/11 both.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7565" y="1819655"/>
            <a:ext cx="5018429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429" y="1874519"/>
            <a:ext cx="4908701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SPAN copies transmitted and received frames to the analyzer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WIRELESS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Promiscuous mode on Wi-Fi usually shows only your own traffic.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Monitor mode captures 802.11 frames from all stations on a channel — needs a supporting adapter/driver.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Decrypting WPA2 traffic requires the passphrase and the 4-way handshake.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18915" y="1819655"/>
            <a:ext cx="5215730" cy="408736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779" y="1874519"/>
            <a:ext cx="5106002" cy="39776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Wireless capture depends on the adapter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Capture Filters vs Display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Capture filter (BPF)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Display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Applied before packets are stored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Syntax: host 10.1.1.5 and tcp port 80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Discarded packets cannot be recovered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to limit file size on busy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Applied to packets already captured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Syntax: ip.addr == 10.1.1.5 &amp;&amp; tcp.port == 80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Clear it to see everything again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for analysis and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capture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 switched access port normally observes its own traffic and broadcasts; SPAN or TAP placement changes visibility.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2110919"/>
            <a:ext cx="10076688" cy="356884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2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2165783"/>
            <a:ext cx="9966960" cy="34591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capture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capture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assets/topology.md. Draw a sensor on the client access port, on a mirrored uplink and beside the server. State which traffic each sees.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capture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Capture &gt; Options and inspect the interface list without starting a capture. Enter tcp port 80 in the capture-filter box and check syntax feedback. Cancel the dialog.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capture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Enter tcp.port == 80 in the DISPLAY toolbar. Compare the stored total with the displayed total; explain why clearing it restores hidden packets.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capture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assets/capture-plan.md with scope, interface, duration, ring-buffer limit and permission owner. Wireless monitor mode requires compatible adapter/driver; USB capture requires platform-specific support. Remote capture should use authorised SSH/extcap, not obsolete unauthenticated RPC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capture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capture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tcp.port == 80 expression matches 37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Capture Methods and Capture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plan scoped captures and configure a reproducible analyst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switched access port normally observes its own traffic and broadcasts; SPAN or TAP placement changes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Capture filters use libpcap syntax before packets are stored; display filters hide or show stored packets.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Bound file size and duration; check capture drops before attributing missing packets to network loss.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Global Preferences and Troubleshooting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Create an analyst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Global Preferences and Troubleshooting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profile bundles reproducible columns, coloring rules and protocol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 resolution can obscure numeric evidence and generate additional traffic; document the setting.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Protocol heuristics and TCP analysis preferences change interpretation, not the stored bytes.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Configuration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profile bundles preferences, columns, colouring rules and filter buttons.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Switch profiles from the status bar or Edit &gt; Configuration Profiles.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 task profiles: Troubleshooting, Security, VoIP, Wireless.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488599"/>
            <a:ext cx="6007608" cy="274947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543463"/>
            <a:ext cx="5897880" cy="2639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Right-click the Profile area in the status bar to switch or 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Settings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Help &gt; About Wireshark &gt; Folders shows personal and global configuration paths.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Copy a profile folder to share it with your team.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a clean Default profile untouched.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110019"/>
            <a:ext cx="6007608" cy="350663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64883"/>
            <a:ext cx="5897880" cy="33969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Folders tab lists personal configuration 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Preferences That Change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Name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Off by default for evidence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MAC/transport names are local look-ups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names cause extra DNS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fields as columns (Apply as Column)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e.g. tcp.time_delta, http.host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Save them in the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Protocol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TCP: calculate conversation timestamps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TCP: relative sequence numbers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TLS: key log file per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as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Right-click any field in Packet Details &gt; Apply as Column.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Sort the new column to find extremes — largest delay, largest window, error codes.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Columns are saved in the active profile.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0535" y="1819655"/>
            <a:ext cx="5132489" cy="408736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399" y="1874519"/>
            <a:ext cx="5022761" cy="39776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Right-click | Apply As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analyst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 profile bundles reproducible columns, coloring rules and protocol settings.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2697211"/>
            <a:ext cx="10076688" cy="239626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3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2752075"/>
            <a:ext cx="9966960" cy="22865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analyst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analyst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profile named C1123-Analyst using Edit &gt; Configuration Profiles. Keep the original profile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analyst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Disable network name resolution in View &gt; Name Resolution. Record numeric client, server and resolver IP addresses.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analyst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Select a TCP packet. Expand TCP and right-click Stream index &gt; Apply as Column. Add frame.time_delta_displayed as a custom column using Preferences &gt; Appearance &gt;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analyst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Apply dns and inspect the profile name and displayed columns. Copy the profile folder path from Help &gt; About Wireshark &gt; Folders into outputs/findings.md. Export or copy your profile to outputs/profile/ without overwriting a colleague profile.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analyst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analyst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dns expression matches 6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Recap — Global Preferences and Troubleshooting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plan scoped captures and configure a reproducible analyst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profile bundles reproducible columns, coloring rules and protocol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Name resolution can obscure numeric evidence and generate additional traffic; document the setting.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Protocol heuristics and TCP analysis preferences change interpretation, not the stored bytes.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Navigation and Coloring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Navigation and Coloring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Color rules are applied in order; the first matching rule wins.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Temporary coloring is useful for a conversation; permanent rules support repeated triage.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Bookmarks and comments preserve the analyst path without changing the captured payload.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COLOURING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Colouring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Rules are evaluated top-down — the first match colours the packet.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Default rules flag Bad TCP, HTTP, DNS, ARP, ICMP errors and more.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View &gt; Coloring Rules to edit, import or export a rule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96231" y="1819655"/>
            <a:ext cx="5661097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095" y="1874519"/>
            <a:ext cx="555136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coloring rules list is processed in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COLOURING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Is a Packet This Colour?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Expand the Frame section of Packet Details.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Coloring Rule Name and Coloring Rule String show which rule matched.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this to explain colours in a report.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479770"/>
            <a:ext cx="6007608" cy="276713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534634"/>
            <a:ext cx="5897880" cy="26574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Frame &gt; Coloring Rule Name / 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COLOURING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Colourise a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Right-click a packet &gt; Colorize Conversation to tag a TCP/UDP stream temporarily.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Ten temporary colours make parallel conversations easy to tell apart.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View &gt; Colorize Conversation &gt; Reset to 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390511"/>
            <a:ext cx="6007608" cy="294565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45375"/>
            <a:ext cx="5897880" cy="28359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Temporary conversation colouring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Marking and Annotating Packets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 (Ctrl+M) for quick navigation — marks are lost when the file closes.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Packet comments are saved in pcapng and travel with the evidence.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Time Shift corrects clock offsets between captures.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9695" y="1819655"/>
            <a:ext cx="5394169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559" y="1874519"/>
            <a:ext cx="5284441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Right-click | Packet Comment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Shortcuts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Ctrl+G — go to packet number.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Ctrl+F — find by display filter, hex or string.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Ctrl+. / Ctrl+, — next/previous packet in the conversation.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Ctrl+Space — collapse/expand the Packet Details tree.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73663" y="1819655"/>
            <a:ext cx="5306233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527" y="1874519"/>
            <a:ext cx="5196505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Edit | Mark / Ignore packets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Color rules are applied in order; the first matching rule wins.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166244"/>
            <a:ext cx="10076688" cy="14581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4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221108"/>
            <a:ext cx="9966960" cy="13484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data/branch-office.pcap. Apply http.response.code &gt;= 400. Record the 404 and 500 frame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View &gt; Coloring Rules. Add LAB HTTP Error with expression http.response.code &gt;= 400, dark text and a pale amber background. Move it above a general HTTP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Select the 500 response, mark it using Edit &gt; Mark/Unmark Packet and add a packet comment describing the observed status only. Save As outputs/annotated.pcapng to preserve comments.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Clear the filter. Use Edit &gt; Find Packet with Display filter http.response.code == 500. Reopen the saved pcapng and confirm the comment persists.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Color and annotate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http.response.code &gt;= 400 expression matches 2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Navigation and Coloring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plan scoped captures and configure a reproducible analyst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Color rules are applied in order; the first matching rule wins.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Temporary coloring is useful for a conversation; permanent rules support repeated triage.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Bookmarks and comments preserve the analyst path without changing the captured payload.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See you tomorrow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Time, statistics, filters and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Recap of the previous day, then today's topics and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Time Values and Delay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Time Values and Delay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Displayed delta depends on the current filter; capture delta does not.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SYN to SYN/ACK gives an initial path-related sample; request to response includes application processing.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One-sided timestamps cannot identify exactly which intermediate device delayed or dropped a packet.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TIME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 Display Formats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View &gt; Time Display Format chooses absolute, relative or delta time.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Seconds Since Beginning of Capture — default overview.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Seconds Since Previous Displayed Packet — finds gaps in a filtered 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373234"/>
            <a:ext cx="6007608" cy="298020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28098"/>
            <a:ext cx="5897880" cy="287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Precision depends on the capture hardware and file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TIME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Captured vs Displayed Delta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Delta since previous CAPTURED packet ignores the filter.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Delta since previous DISPLAYED packet changes when you change the filter.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State which delta you used in every finding.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83630" y="1819655"/>
            <a:ext cx="5886299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494" y="1874519"/>
            <a:ext cx="5776571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Same packets — different deltas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DELAY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End-to-End Path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SYN → SYN/ACK gives the initial round-trip time (iRTT) near the client.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Request → response adds server processing time.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Large gaps after an ACK point to the server, not the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2907" y="1819655"/>
            <a:ext cx="5407745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771" y="1874519"/>
            <a:ext cx="5298017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Sort a delta-time column to find the largest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Kinds of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Path delay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SYN → SYN/ACK (iRTT)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tcp.analysis.ack_rtt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Affects every exchange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Server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ACK → first response byte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http.time for HTTP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Grows with server 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Client 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Response → next request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Think time or app processing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Often not a network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 Reference and Timestamps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Ctrl+T sets a time reference — times are then measured from that packet.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 reference per conversation to time one transaction in isolation.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Timestamp precision is set by the capture system; you cannot add precision later.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Clock offsets between capture points need Time Shift before comparing.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Displayed delta depends on the current filter; capture delta does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048986"/>
            <a:ext cx="10076688" cy="16927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5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103850"/>
            <a:ext cx="9966960" cy="15829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data/branch-office.pcap. Apply tcp.stream == 1. Expand TCP in the final handshake ACK and inspect tcp.analysis.initial_rtt: 0.040 seconds. Separately measure SYN to SYN/ACK by setting a time reference on the SYN: 0.030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Locate GET /slow and its HTTP response. Set a new time reference on the request. Record the response delta: 0.760 seconds, including 0.010 seconds to the server ACK and 0.750 seconds thereafter.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Apply http.request.uri == "/slow" || http.response.code == 200 and compare frame.time_delta with frame.time_delta_displayed on the filtered list. Explain why a displayed gap can span hidden packets.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Write a hypothesis in outputs/findings.md: slow response with a synthetic 30 ms SYN-to-SYN/ACK interval and 40 ms complete handshake. Name a second observation point required to distinguish processing from a later path delay.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path and server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http.request.uri == "/slow" || http.response.code == 200 expression matches 3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Time Values and Delay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navigate, filter, summarize and time network exchanges.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Displayed delta depends on the current filter; capture delta does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SYN to SYN/ACK gives an initial path-related sample; request to response includes application processing.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One-sided timestamps cannot identify exactly which intermediate device delayed or dropped a packet.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Trace Statistics and VoIP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Trace Statistics and VoIP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Protocol Hierarchy shows captured composition; byte share differs from packet share.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Conversations and Endpoints identify concentration; they do not alone prove malicious activity.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SIP signals a call while RTP carries media; jitter, loss and codec interpretation need stream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TRACE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Capture File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Statistics &gt; Capture File Properties: file, time span, interface and drop counts.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packets dropped before blaming the network for loss.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these facts at the start of every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381134"/>
            <a:ext cx="6007608" cy="296440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35998"/>
            <a:ext cx="5897880" cy="2854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Statistics | Protocol Hierarchy shows the protocol 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TRACE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Conversations and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Statistics &gt; Conversations lists pairs at Ethernet, IPv4/6, TCP and UDP level.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Sort by Bytes to find the most active conversation.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Right-click a row to filter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1999439"/>
            <a:ext cx="6007608" cy="37277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054303"/>
            <a:ext cx="5897880" cy="36180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Statistics | Conversations — TCP tab, sorted by 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TRACE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Lengths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Statistics &gt; Packet Lengths shows the size distribution.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Many tiny packets moving bulk data suggest inefficient application behaviour.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full-size Ethernet frame is 1518 bytes; TCP payload at MTU 1500 is 1460.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673291"/>
            <a:ext cx="6007608" cy="23800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728155"/>
            <a:ext cx="5897880" cy="22703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Frame size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TRACE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Flow Graph and HTTP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Statistics &gt; Flow Graph draws the exchange between hosts as a ladder diagram.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Statistics &gt; HTTP &gt; Packet Counter summarises requests and response codes.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both to explain sequence and outcome in a report.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140579"/>
            <a:ext cx="6007608" cy="344551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95443"/>
            <a:ext cx="5897880" cy="33357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Statistics | HTTP | Packet Counter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VOIP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 over IP (VoIP)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SIP signals the call: INVITE, 100 Trying, 180 Ringing, 200 OK, ACK.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RTP carries the media; gaps in RTP sequence numbers indicate loss.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Telephony &gt; VoIP Calls, SIP Flows and RTP Streams analyse calls.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7779" y="1819655"/>
            <a:ext cx="5358001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643" y="1874519"/>
            <a:ext cx="5248273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SIP call set-up between two phones and a telephony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Protocol Hierarchy shows captured composition; byte share differs from packet share.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166244"/>
            <a:ext cx="10076688" cy="14581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6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221108"/>
            <a:ext cx="9966960" cy="13484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Open Statistics &gt; Protocol Hierarchy, then Statistics &gt; Conversations. Sort TCP conversations by bytes; save the largest conversation details.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Statistics &gt; I/O Graphs. Create an all-traffic graph with a 1 second interval and Bits as the unit. Record peak interval and explain the difference between observed bits and usable application throughput.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sip and open Telephony &gt; VoIP Calls or SIP Flows. Identify the INVITE and 200 OK. This minimal synthetic exchange is signalling evidence, not a complete production 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Apply udp.port == 4002. Use Analyze &gt; Decode As to decode this UDP port as RTP. Open Telephony &gt; RTP &gt; RTP Streams, select the stream and Analyze. Record sequence numbers 100, 101, 103, 104; the missing sequence is 102.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Summarize traffic and a voice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sip expression matches 2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Trace Statistics and VoIP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navigate, filter, summarize and time network exchanges.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Protocol Hierarchy shows captured composition; byte share differs from packet share.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Conversations and Endpoints identify concentration; they do not alone prove malicious activity.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SIP signals a call while RTP carries media; jitter, loss and codec interpretation need stream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Display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Display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Parentheses make mixed and/or expressions explicit.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existence and Boolean equality differ: tcp.flags.syn == 1 tests the bit.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Since Wireshark 3.6, != uses all-not-equal semantics; historical slides describing any-not-equal are obsolete.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Display Filter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Comparison: == != &gt; &lt; &gt;= &lt;= (or eq ne gt lt ge le).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Logical: &amp;&amp; (and), || (or), ! (not); parentheses make intent explicit.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Strings in double quotes; contains and matches search payload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221839"/>
            <a:ext cx="6007608" cy="32829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76703"/>
            <a:ext cx="5897880" cy="31732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Comparison operators with C-like and English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COMMON MISTAKE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!= Trap (Wireshark 3.6+)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ip.addr != 10.2.4.1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ip.addr ~= 10.2.4.1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Means ALL ip.addr fields are not 10.2.4.1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Excludes every packet to OR from 10.2.4.1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This is the current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"Any not equal" — the old meaning of !=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Keeps packets where either address differs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Prefer !(ip.addr == 10.2.4.1) for clarity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Building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Right-click a field &gt; Apply as Filter / Prepare as Filter.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Start typing — autocomplete lists valid field names.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Save frequent filters as filter buttons in your profile.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Test field existence (tcp.analysis.flags) vs a value (tcp.flags.syn == 1).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Filters You Will Use All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arp || icmp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Local resolution and reachability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dns.flags.rcode != 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DNS errors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tcp.flags.syn == 1 &amp;&amp; tcp.flags.ack == 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 attempts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tcp.analysis.flags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TCP expert warnings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http.response.code &gt;= 400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Client and server errors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frame.time_delta_displayed &gt;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Gaps over 1 s in the 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Parentheses make mixed and/or expressions explicit.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283503"/>
            <a:ext cx="10076688" cy="122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7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338367"/>
            <a:ext cx="9966960" cy="1113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Apply dns.flags.rcode == 3 and record the returned response frame. Clear the filter and apply tcp.flags.syn ==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Compare (ip.src == 192.0.2.10 &amp;&amp; udp.port == 53) || tcp.port == 80 with ip.src == 192.0.2.10 &amp;&amp; (udp.port == 53 || tcp.port == 80). Record both counts and the direction excluded by the second expression.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!(ip.addr == 192.0.2.53). Verify that DNS packets disappear; compare ip.addr != 192.0.2.53 on Wireshark 4.6 or later. Record the actual version and equality behaviour.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Save five useful filters in outputs/filters.txt. For each, state the question, filter and matching frame numbers; compile them with scripts/verify.py.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filter evidence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dns.flags.rcode == 3 expression matches 1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Display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navigate, filter, summarize and time network exchanges.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Parentheses make mixed and/or expressions explicit.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Field existence and Boolean equality differ: tcp.flags.syn == 1 tests the bit.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Since Wireshark 3.6, != uses all-not-equal semantics; historical slides describing any-not-equal are obsolete.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TCP/IP Communications and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TCP/IP Communications and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ARP resolves a local next-hop MAC; DNS resolves a name to an address.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destination IP stays end-to-end across routing while link-layer addresses change per hop.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Resolution, connection establishment and application exchange form a dependency chain.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med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PROTOCOL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TCP/IP Protocol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Application: HTTP, DNS, SMTP, SNMP …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Transport: TCP (reliable) and UDP (best-effort).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Network: IP, ICMP, ARP sits between network and link.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1976682"/>
            <a:ext cx="6007608" cy="377331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031546"/>
            <a:ext cx="5897880" cy="36635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common protocols 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med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LAYER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Switching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Switches learn MAC addresses and forward frames within a broadcast domain.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 and destination MAC stay the same across a switch.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ARP resolves the next-hop MAC before the first frame is 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2773" y="1819655"/>
            <a:ext cx="5448013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637" y="1874519"/>
            <a:ext cx="5338285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frame crossing a switch keeps its MAC addresses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med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LAYER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Routing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Routers forward on destination IP and rewrite the link-layer addresses.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TTL decreases by one at every router hop.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IP addresses are unchanged across routers (without NAT).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260526"/>
            <a:ext cx="6007608" cy="3205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315390"/>
            <a:ext cx="5897880" cy="30958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MAC addresses change hop-by-hop; IP addresses stay end-to-end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med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MIDDLEBOXES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 and NAT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NAT/PAT rewrites addresses and ports — capture on both sides to correlate.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Firewalls may drop silently or reply with RST / ICMP unreachable.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proxy creates two separate TCP connections.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5318" y="1819655"/>
            <a:ext cx="5422924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182" y="1874519"/>
            <a:ext cx="5313196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Address translation changes what each capture point sees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med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RECONSTRUCT 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ARP resolves the gateway MAC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DNS resolves the server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TCP handshake opens the 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Application request and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Teardown: FIN or RST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08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ARP resolves a local next-hop MAC; DNS resolves a name to an address.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med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166244"/>
            <a:ext cx="10076688" cy="14581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8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221108"/>
            <a:ext cx="9966960" cy="13484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med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med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Locate the ARP exchange and DNS transaction 101 for portal.example.test. Record the server address 192.0.2.20.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med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tcp.stream == 0 and open Statistics &gt; Flow Graph with displayed packets selected. Identify SYN, SYN/ACK, ACK, request and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med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Fill assets/dependency-map.md with the ARP, DNS, TCP and HTTP frame ranges. Distinguish Ethernet next hop from IP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med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Contrast a same-subnet server with a routed server using assets/topology.md: a routed destination needs the gateway MAC rather than ARP for the remote host. Record what this trace can and cannot demonstrate.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med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med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Reconstruct an application dependency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dns.qry.name == "portal.example.test" expression matches 2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med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TCP/IP Communications and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navigate, filter, summarize and time network exchanges.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ARP resolves a local next-hop MAC; DNS resolves a name to an address.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destination IP stays end-to-end across routing while link-layer addresses change per hop.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Resolution, connection establishment and application exchange form a dependency chain.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med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med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DNS Traffic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spd="med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DNS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Transaction ID plus addresses and ports pair a query with its response.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NXDOMAIN reports that a name does not exist; it differs from silence or timeout.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DNS response time is a measured exchange, influenced by resolver and path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med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DNS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client asks its resolver; the resolver walks the hierarchy or answers from cache.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Queries normally use UDP 53; large answers and zone transfers use TCP.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Transaction ID pairs each response with its 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487399"/>
            <a:ext cx="6007608" cy="275187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542263"/>
            <a:ext cx="5897880" cy="2642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resolution through a local resolver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med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DNS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DNS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rcode 0 (NoError)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Answer records present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Check TTL and address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rcode 3 = NXDOMAIN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rcode 2 = SERVFAIL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Name or zone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Silence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Query with no response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Retries after timeout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Path, firewall or resolver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med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Useful DNS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dns.flags.response == 0 — queries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dns.flags.rcode == 3 — name does not exist.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dns.time &gt; 0.5 — responses slower than 500 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dns.qry.name contains "example" — one domain family.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med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09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Transaction ID plus addresses and ports pair a query with its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med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283503"/>
            <a:ext cx="10076688" cy="122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07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338367"/>
            <a:ext cx="9966960" cy="1113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med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med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Apply dns and add dns.time as a column from a response packet. Pair IDs 101, 102 and 103.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med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dns.flags.rcode == 3. Expand DNS flags and name. Record missing.example.test and explain NXDOMAIN.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spd="med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dns.id == 103. Measure the query-response interval: 0.800 seconds. Compare with the two 0.020 second transactions.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Complete assets/dns-observations.csv with name, transaction ID, rcode, elapsed seconds and next investigation. Do not label this measured delay as a DNS timeout.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med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med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DNS failure and delay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dns.flags.rcode == 3 expression matches 1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med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DNS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interpret DNS, ARP, IPv4, ICMP and UDP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Transaction ID plus addresses and ports pair a query with its response.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NXDOMAIN reports that a name does not exist; it differs from silence or timeout.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DNS response time is a measured exchange, influenced by resolver and path behaviour.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med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See you tomorrow</a:t>
            </a:r>
          </a:p>
        </p:txBody>
      </p:sp>
    </p:spTree>
  </p:cSld>
  <p:clrMapOvr>
    <a:masterClrMapping/>
  </p:clrMapOvr>
  <p:transition spd="med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IP and transport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Recap of the previous day, then today's topics and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D3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med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ARP Traffic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med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ARP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ARP requests are link-local broadcasts; replies usually return to the requester.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repeated unresolved request suggests a local resolution problem, but a single trace may miss the reply.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MAC changes require corroboration before claiming duplicate IP or spoofing.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med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ADDRESS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ARP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Broadcast to ff:ff:ff:ff:ff:ff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"Who has 192.0.2.20? Tell 192.0.2.10"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arp.opcode ==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Unicast back to the requester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"192.0.2.20 is at 02:00:…"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arp.opcode ==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Gratuitous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Sender announces its own IP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Used after failover / IP change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arp.isgratuitous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med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ARP Problems to Recognise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Possible causes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Repeated requests with no reply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Duplicate IP address detected warnings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IP mapped to two MAC addresses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Excessive ARP broadcasts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Host down or wrong subnet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Two hosts configured with the same 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ARP spoofing — corroborate first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Scanning or misconfigured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med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10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ARP requests are link-local broadcasts; replies usually return to the requester.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spd="med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283503"/>
            <a:ext cx="10076688" cy="122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0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338367"/>
            <a:ext cx="9966960" cy="1113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med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med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Apply arp. Expand the request and reply, then record sender IP, sender MAC, target IP and opcode.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spd="med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arp.opcode == 2. Confirm the advertised server mapping is 192.0.2.20 to 02:00:00:00:00:20.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med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Use the packet bytes to verify the opcode field is 2 in the reply. Add the mapping to assets/arp-table.csv.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med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Compare assets/arp-hypotheses.md with the evidence. State that this capture shows one successful exchange, without inventing repeated failures or conflicting MACs.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spd="med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med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link-local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arp.opcode == 2 expression matches 1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med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ARP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interpret DNS, ARP, IPv4, ICMP and UDP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ARP requests are link-local broadcasts; replies usually return to the requester.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repeated unresolved request suggests a local resolution problem, but a single trace may miss the reply.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MAC changes require corroboration before claiming duplicate IP or spoofing.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spd="med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med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IPv4 Traffic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med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IPv4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TTL limits forwarding hops; it is not a latency measurement.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Broadcast and multicast use different addressing scopes and delivery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Fragmentation fields describe packet handling; missing fragments can reflect capture limitations.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ransition spd="med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IPV4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IPv4 Header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TTL — hops remaining; not a measure of time.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Protocol — 1 ICMP, 6 TCP, 17 UDP.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Flags/Fragment offset — fragmentation handling.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DSCP — quality-of-service marking.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671302"/>
            <a:ext cx="6007608" cy="238407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726166"/>
            <a:ext cx="5897880" cy="22743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Header layout (TCP header shown; IPv4 uses the same 32-bit rows)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med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Address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Unicast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One sender to one receiver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Most application traffic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ip.dst ==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Broadcast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All hosts on the subnet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255.255.255.255 or directed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Not forwarded by routers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Multicast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224.0.0.0/4 group addresses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224.0.0.1 = all hosts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Joined with IGMP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med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IPv4 Filters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ip.ttl &lt; 10 — packets close to expiring.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ip.flags.mf == 1 || ip.frag_offset &gt; 0 — fragments.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ip.dst == 224.0.0.0/4 — all multicast.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Missing fragments may be a capture limitation — check drops first.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spd="med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TTL limits forwarding hops; it is not a latency measurement.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spd="med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283503"/>
            <a:ext cx="10076688" cy="122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1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338367"/>
            <a:ext cx="9966960" cy="1113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med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med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Select an ICMP echo request. Expand IPv4 and record version, IHL, total length, TTL, protocol, flags and fragment offset.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spd="med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ip.dst == 224.0.0.1 and compare Ethernet destination 01:00:5e:00:00:01 with IPv4 multicast destination. Record TTL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med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ip.flags.mf == 1 || ip.frag_offset &gt; 0. Confirm no fragmented packets in this fixture; absence here does not demonstrate a universal MTU.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ransition spd="med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assets/ip-header.csv. Explain why ARP broadcast is not an IPv4 broadcast packet, and why a capture at one point cannot estimate hop count from TTL without knowing initial TTL.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ransition spd="med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  <p:transition spd="med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Classify IPv4 scope and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ip.dst == 224.0.0.1 expression matches 1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  <p:transition spd="med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IPv4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interpret DNS, ARP, IPv4, ICMP and UDP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TTL limits forwarding hops; it is not a latency measurement.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Broadcast and multicast use different addressing scopes and delivery rules.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Fragmentation fields describe packet handling; missing fragments can reflect capture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ransition spd="med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  <p:transition spd="med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TOPIC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ICMP Traffic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spd="med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ICMP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Echo requests/replies show an IP exchange; they do not guarantee an application 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Destination unreachable messages quote the offending datagram.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ICMP may be filtered or rate-limited, so absence of a reply needs cautious interpretation.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  <p:transition spd="med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ICMP Messages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Echo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Type 8 request, Type 0 reply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ping / reachability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Match on identifier + sequence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Unreachable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Type 3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Code 3 = port unreachable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Code 1 = host unreachable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Time exceeded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Type 11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TTL expired in transit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How traceroute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  <p:transition spd="med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Interpreting ICMP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An unreachable message quotes the original IP header — read it to find the failed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No echo reply can mean filtering, not a down host.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Rate-limited ICMP can hide real 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icmp.type == 3 &amp;&amp; icmp.code == 3 finds closed UDP 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  <p:transition spd="med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Echo requests/replies show an IP exchange; they do not guarantee an application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  <p:transition spd="med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283503"/>
            <a:ext cx="10076688" cy="122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2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338367"/>
            <a:ext cx="9966960" cy="1113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  <p:transition spd="med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  <p:transition spd="med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Apply icmp.type == 8 || icmp.type == 0. Pair echo sequences 0, 1 and 2 using identifier 7. Measure 0.030 seconds per pair.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  <p:transition spd="med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icmp.type == 3 &amp;&amp; icmp.code == 3. Expand the quoted IPv4 and UDP headers. Record destination UDP port 9999.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  <p:transition spd="med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udp.dstport == 9999 to locate the initiating datagram. Record the difference between a UDP service refusal and an echo reply.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  <p:transition spd="med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Complete assets/icmp-events.csv with type, code, quoted protocol, port and conclusion. State which evidence supports a service refusal.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  <p:transition spd="med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  <p:transition spd="med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 echo and unreachable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icmp.type == 3 &amp;&amp; icmp.code == 3 expression matches 1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  <p:transition spd="med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ICMP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interpret DNS, ARP, IPv4, ICMP and UDP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Echo requests/replies show an IP exchange; they do not guarantee an application works.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Destination unreachable messages quote the offending datagram.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ICMP may be filtered or rate-limited, so absence of a reply needs cautious interpretation.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  <p:transition spd="med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UDP Traffic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  <p:transition spd="med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UDP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UDP has no transport handshake or retransmission; the application may provide reliability.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port number is a decoding hint; payload and context identify the application.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Following a UDP stream collects datagrams and does not invent missing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  <p:transition spd="med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vs UDP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UDP: connectionless, 8-byte header, no retransmission or ordering.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TCP: connection-oriented, reliable, ordered, flow-controlled.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analysis by the transport: UDP problems show up at the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762076"/>
            <a:ext cx="6007608" cy="220252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816940"/>
            <a:ext cx="5897880" cy="20927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Header and feature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  <p:transition spd="med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SOCKETS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Ports and Sockets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socket is IP address + port.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conversation is the pair of sockets — the 5-tuple with the protocol.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Ephemeral client ports change per connection.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023716"/>
            <a:ext cx="6007608" cy="36792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078580"/>
            <a:ext cx="5897880" cy="35695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Socket pairs identify each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  <p:transition spd="med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Analysing UDP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Follow &gt; UDP Stream reassembles a datagram conversation.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UDP request answered by ICMP port unreachable = closed 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Missing responses need application-level timing to interpret.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Decode As lets you dissect traffic on non-standard 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  <p:transition spd="med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UDP has no transport handshake or retransmission; the application may provide reliability.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  <p:transition spd="med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166244"/>
            <a:ext cx="10076688" cy="14581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3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221108"/>
            <a:ext cx="9966960" cy="13484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  <p:transition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  <p:transition spd="med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data/branch-office.pcap. Apply udp.dstport == 9999. One frame is the original datagram and one is the UDP header quoted inside ICMP; inspect the outer protocol to distinguish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  <p:transition spd="med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Select the original datagram and use Analyze &gt; Follow &gt; UDP Stream. Confirm the payload LAB-UDP. Save a text view to outputs/udp-stream.txt.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  <p:transition spd="med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udp.port == 4002 and decode RTP using Analyze &gt; Decode As. Compare datagram framing with the earlier TCP stream.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  <p:transition spd="med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Record why no UDP transport ACK exists in the trace. Use the ICMP refusal to explain why an application can fail even though a datagram was transmitted.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  <p:transition spd="med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  <p:transition spd="med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datagrams and service refusal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udp.dstport == 9999 expression matches 2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  <p:transition spd="med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UDP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interpret DNS, ARP, IPv4, ICMP and UDP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UDP has no transport handshake or retransmission; the application may provide reliability.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port number is a decoding hint; payload and context identify the application.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Following a UDP stream collects datagrams and does not invent missing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  <p:transition spd="med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med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TCP Protocol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  <p:transition spd="med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TCP Protocol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Sequence numbers count bytes; ACK numbers indicate the next expected byte.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Retransmission and duplicate ACK labels are heuristics sensitive to capture placement and completeness.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Zero window indicates receive-side flow control; it is distinct from network congestion.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  <p:transition spd="med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Three-Way Handshake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SYN → SYN/ACK → ACK establishes the connection.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Options are negotiated here: MSS, window scale, SACK permitted.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SYN → SYN/ACK gap is the initial RTT seen by the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418582"/>
            <a:ext cx="6007608" cy="288951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73446"/>
            <a:ext cx="5897880" cy="27797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Connection establishment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  <p:transition spd="med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Sequence Numbers and Error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Sequence numbers count bytes sent; ACK = next byte expected.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gap triggers duplicate ACKs and retransmission.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Wireshark shows relative sequence numbers by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395624"/>
            <a:ext cx="6007607" cy="29354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50488"/>
            <a:ext cx="5897879" cy="2825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Lost segment recovered after the receiver asks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  <p:transition spd="med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FLOW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Windowing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receive window advertises buffer space available.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Window scaling multiplies it for high-bandwidth paths.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Window = 0 (Zero Window) stops the sender until a window update.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276684"/>
            <a:ext cx="6007608" cy="317330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331548"/>
            <a:ext cx="5897880" cy="3063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Flow control with window advertisements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  <p:transition spd="med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Retransmissions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Timeout retransmission (RTO): no ACK in time — backs off exponentially.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Fast retransmission: three duplicate ACKs trigger an early resend.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Spurious retransmissions repeat data that was already received.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1959477"/>
            <a:ext cx="6007608" cy="380772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014341"/>
            <a:ext cx="5897880" cy="36979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Retransmission timers on a lossy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  <p:transition spd="med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EXPERT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Expert Flags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Retransmission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sent again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Receiver still waiting for a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Previous segment not captured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Gap — loss or capture drop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Zero Window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Receiver buffer full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Window Full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Sender filled the advertised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Abrupt connection reset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  <p:transition spd="med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Analyze TCP sequence numbers — enables tcp.analysis.* flags.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Calculate conversation timestamps — adds tcp.time_delta.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Relative sequence numbers make streams readable.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583465"/>
            <a:ext cx="6007608" cy="25597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638329"/>
            <a:ext cx="5897880" cy="24500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Edit | Preferences | Protocols | TCP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  <p:transition spd="med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Sequence numbers count bytes; ACK numbers indicate the next expected byte.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  <p:transition spd="med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2081605"/>
            <a:ext cx="10076688" cy="362747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4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2136469"/>
            <a:ext cx="9966960" cy="3517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  <p:transition spd="med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  <p:transition spd="med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Apply tcp.stream == 3. Open Analyze &gt; Expert Information and note the repeated server segment.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  <p:transition spd="med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tcp.analysis.retransmission and expand TCP. Compare the same sequence range and payload in the earlier segment; the repeat occurs 1.000 second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  <p:transition spd="med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tcp.window_size_value == 0. Confirm the client ACK advertises zero receive window in stream 3. Examine the SYN options: window scaling is negotiated, but zero remains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  <p:transition spd="med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Apply tcp.flags.reset == 1. Identify the port 81 refusal. Complete assets/tcp-evidence.csv with stream, frame, flag/analysis, measured interval and a limitation. Discuss SACK, fast recovery and out-of-order evidence without claiming those events occur in this fixture.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  <p:transition spd="med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  <p:transition spd="med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Investigate retransmission and zero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tcp.analysis.retransmission expression matches 1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  <p:transition spd="med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TCP Protocol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diagnose TCP and application behaviour, including HTTP and authorised TLS inspection.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Sequence numbers count bytes; ACK numbers indicate the next expected byte.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Retransmission and duplicate ACK labels are heuristics sensitive to capture placement and completeness.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Zero window indicates receive-side flow control; it is distinct from network congestion.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  <p:transition spd="med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See you tomorrow</a:t>
            </a:r>
          </a:p>
        </p:txBody>
      </p:sp>
    </p:spTree>
  </p:cSld>
  <p:clrMapOvr>
    <a:masterClrMapping/>
  </p:clrMapOvr>
  <p:transition spd="med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Graphs, applications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Recap of the previous day, then today's topics and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D4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  <p:transition spd="med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Traffic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  <p:transition spd="med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Traffic Graphs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I/O graph bins observed events; units and interval determine what it means.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TCP time-sequence graphs show byte progress, stalls and repeated sequence ranges.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RTT samples, application response time and throughput answer different questions.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  <p:transition spd="med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I/O Graphs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Statistics &gt; I/O Graphs plots packets, bytes or bits per interval.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Add graphs with filters — e.g. total vs tcp.analysis.flags.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log scale and moving averages to compare very different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630702"/>
            <a:ext cx="6007608" cy="24652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685566"/>
            <a:ext cx="5897880" cy="2355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Multiple graphs with different filters on one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  <p:transition spd="med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an I/O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40558" y="1792224"/>
            <a:ext cx="6910578" cy="4206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f-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422" y="1847088"/>
            <a:ext cx="6800850" cy="4096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108192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Drops in throughput that line up with TCP expert events point to the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  <p:transition spd="med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Round Trip Time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Statistics &gt; TCP Stream Graphs &gt; Round Trip Time.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Graphs are unidirectional — pick the data-sending direction.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Spikes show where the path or receiver was slow to acknowledge.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35664" y="1819655"/>
            <a:ext cx="5582231" cy="408736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528" y="1874519"/>
            <a:ext cx="5472503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RTT per acknowledged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  <p:transition spd="med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Time/Sequence (Stevens)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Sequence number vs time — the slope is throughput.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Flat steps reveal stalls such as zero window.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Vertical repeats indicate retransmissions.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214273"/>
            <a:ext cx="6007608" cy="32981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69137"/>
            <a:ext cx="5897880" cy="31884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flat region marks a zero-window 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  <p:transition spd="med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 Scaling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Plots the receiver's advertised window alongside bytes in flight.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When bytes in flight meet the window, the receiver is the bottleneck.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collapsing window points at the receiving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2195738"/>
            <a:ext cx="6007608" cy="3335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50602"/>
            <a:ext cx="5897880" cy="3225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Stable window, instability and zero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  <p:transition spd="med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An I/O graph bins observed events; units and interval determine what it means.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  <p:transition spd="med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166244"/>
            <a:ext cx="10076688" cy="14581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5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221108"/>
            <a:ext cx="9966960" cy="13484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  <p:transition spd="med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  <p:transition spd="med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Select a packet in TCP stream 3. Open Statistics &gt; TCP Stream Graphs &gt; Time Sequence (Stevens) and inspect the repeated server sequence.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  <p:transition spd="med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Statistics &gt; I/O Graphs. Add a retransmission graph with filter tcp.analysis.retransmission and a zero-window graph with filter tcp.analysis.zero_window. Use packets and a 1 second interval; record their event bins.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  <p:transition spd="med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TCP Stream Graphs &gt; Round Trip Time. Compare eligible ACK samples with the 30 ms SYN-to-SYN/ACK interval and the 40 ms complete handshake/initial_rtt on the final ACK. Explain why no ACK sample exists for an unacknowledged segment before its repeat.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  <p:transition spd="med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the report script to export timestamps and byte lengths, then write outputs/graph-notes.md with interval, unit, stream, visible pattern and limitation. Do not use SUM(tcp.seq) as throughput.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  <p:transition spd="med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  <p:transition spd="med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Graph bytes, RTT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tcp.analysis.retransmission || tcp.analysis.zero_window expression matches 2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  <p:transition spd="med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Traffic Graphs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diagnose TCP and application behaviour, including HTTP and authorised TLS inspection.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An I/O graph bins observed events; units and interval determine what it means.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TCP time-sequence graphs show byte progress, stalls and repeated sequence ranges.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RTT samples, application response time and throughput answer different questions.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  <p:transition spd="med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med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HTTP and HTTP/2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  <p:transition spd="med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HTTP and HTTP/2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HTTP response codes describe application outcomes after transport delivery.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response time contains more than network latency; pair the correct request and response.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HTTP/2 multiplexes frames; encrypted HTTP/2 needs authorised TLS secrets to inspect payload.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  <p:transition spd="med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HTTP Response Codes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2xx / 3xx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200 OK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301/302 redirect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304 not modified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4xx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400 bad request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403 forbidden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404 not found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5xx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500 internal error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502 bad gateway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503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  <p:transition spd="med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the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Right-click &gt; Follow &gt; TCP Stream (or HTTP Stream) reassembles the conversation.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Client data in red, server data in blue.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filter changes to tcp.stream == N — clear it to return.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1832323"/>
            <a:ext cx="6007608" cy="40620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87187"/>
            <a:ext cx="5897880" cy="39523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Follow Stream reassembles the transferred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  <p:transition spd="med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Export HTTP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File &gt; Export Objects &gt; HTTP lists every transferred object.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Save files for inspection — handle unknown content safely.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http.time measures each response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1996188"/>
            <a:ext cx="6007608" cy="37343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051052"/>
            <a:ext cx="5897880" cy="36245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File | Export Objects | 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  <p:transition spd="med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HTTP/1.1 vs HTTP/2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HTTP/1.1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HTTP/2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Text headers, one request at a time per connection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Readable directly in the packet list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http.request.method, http.response.code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Binary frames multiplexed into streams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Usually inside TLS (ALPN h2)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http2.type, http2.streamid; Decode As for clear-text test 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  <p:transition spd="med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HTTP response codes describe application outcomes after transport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  <p:transition spd="med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2565295"/>
            <a:ext cx="10076688" cy="266009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6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2620159"/>
            <a:ext cx="9966960" cy="25503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  <p:transition spd="med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  <p:transition spd="med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Apply http.request || http.response. Pair /health, /slow, /missing and /fault with their response codes.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  <p:transition spd="med">
    <p:fade/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Select the /health response and Follow &gt; TCP Stream. Confirm LAB-OK. Use File &gt; Export Objects &gt; HTTP to save the health text object into outputs/objects/.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  <p:transition spd="med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Apply tcp.port == 8080. Use Analyze &gt; Decode As and set TCP port 8080 to HTTP2. Inspect the connection preface and SETTINGS frame (type 4). This fixture uses cleartext prior knowledge, not HTTPS.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  <p:transition spd="med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scripts/verify.py, then save outputs/http-summary.csv with URI, status, response interval and proposed next step. Discuss how multiple HTTP/2 stream IDs share one TCP connection.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  <p:transition spd="med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  <p:transition spd="med">
    <p:fade/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HTTP outcomes and HTTP/2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http.response.code &gt;= 400 expression matches 2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  <p:transition spd="med">
    <p:fade/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HTTP and HTTP/2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diagnose TCP and application behaviour, including HTTP and authorised TLS inspection.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HTTP response codes describe application outcomes after transport delivery.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response time contains more than network latency; pair the correct request and response.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HTTP/2 multiplexes frames; encrypted HTTP/2 needs authorised TLS secrets to inspect payload.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  <p:transition spd="med">
    <p:fade/>
  </p:transition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  <p:transition spd="med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TLS-Encrypted Traffic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  <p:transition spd="med">
    <p:fade/>
  </p:transition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TLS-Encrypted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Without session secrets, encrypted application records do not disclose HTTP payload.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controlled key log enables authorised inspection of this synthetic TLS exchange.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server RSA private key alone cannot decrypt modern ECDHE or TLS 1.3 sessions.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  <p:transition spd="med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Handshake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Client Hello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SNI = requested server name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Offered versions and ciphers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tls.handshake.type ==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Server Hello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Chosen version and cipher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Certificate (TLS 1.2)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tls.handshake.type ==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Application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Encrypted records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Sizes and timing still visible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tls.record.content_type ==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  <p:transition spd="med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DECRYPTION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Decrypting TLS — Authorised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Does not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log file from the client (SSLKEYLOGFILE)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Preferences &gt; Protocols &gt; TLS &gt; (Pre)-Master-Secret log filename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Works for TLS 1.2 and TLS 1.3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RSA private key with (EC)DHE or TLS 1.3 sessions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Captures without the matching session secrets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Anything you are not authorised to 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  <p:transition spd="med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17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Encrypted vs Decrypted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TLS capture — only handshake and Application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Note what metadata is still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lab key log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HTTP requests and responses appear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Remove the key log before the next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  <p:transition spd="med">
    <p:fade/>
  </p:transition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Without session secrets, encrypted application records do not disclose HTTP payload.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  <p:transition spd="med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15474" y="1792224"/>
            <a:ext cx="8760747" cy="4206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7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38" y="1847088"/>
            <a:ext cx="8651019" cy="4096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  <p:transition spd="med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  <p:transition spd="med">
    <p:fade/>
  </p:transition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data/tls-session.pcap. In Preferences &gt; Protocols &gt; TLS, clear the (Pre)-Master-Secret log filename, then apply tls. Identify ClientHello and encrypted application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  <p:transition spd="med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Expand ClientHello &gt; Extensions &gt; server_name. Record portal.example.test. The lab uses a real TLS 1.2 MemoryBIO exchange, a temporary self-signed certificate and offline synthetic TCP wrapping.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  <p:transition spd="med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Set Preferences &gt; Protocols &gt; TLS &gt; (Pre)-Master-Secret log filename to the absolute path of data/lab-tls.keys. Reload the capture. Apply http and confirm GET /health and 200 OK containing LAB-OK.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  <p:transition spd="med">
    <p:fade/>
  </p:transition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scripts/verify.py for both encrypted/decrypted checks. Clear the key-log preference when finished. The supplied secrets are synthetic lab session material; never copy production session secrets into a public repository.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  <p:transition spd="med">
    <p:fade/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  <p:transition spd="med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encrypted and decrypted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tls.handshake.type == 1 expression matches 1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  <p:transition spd="med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TLS-Encrypted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diagnose TCP and application behaviour, including HTTP and authorised TLS inspection.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Without session secrets, encrypted application records do not disclose HTTP payload.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controlled key log enables authorised inspection of this synthetic TLS exchange.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server RSA private key alone cannot decrypt modern ECDHE or TLS 1.3 sessions.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  <p:transition spd="med">
    <p:fade/>
  </p:transition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med">
    <p:fade/>
  </p:transition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TOPIC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Ten Troubleshooting Steps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  <p:transition spd="med">
    <p:fade/>
  </p:transition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Ten Troubleshooting Steps and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Begin with scope and a baseline, then focus with endpoints, filters, time and graphs.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observed facts from hypotheses and specify what new evidence would test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useful report states affected flow, measurement, impact, recommended action and uncertainty.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  <p:transition spd="med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Ten-Step Troubleshooting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Baseline "normal"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conversations and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focused filters and colour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time and TCP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Graph, follow streams and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  <p:transition spd="med">
    <p:fade/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Export and Preserve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File &gt; Export Specified Packets saves only the relevant frames.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Export Packet Dissections produces text/CSV for reports.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the original capture unchanged and record its hash.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2976" y="1839281"/>
            <a:ext cx="6007608" cy="404811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-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94145"/>
            <a:ext cx="5897880" cy="39383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5943600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File | Export Packet Dissections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  <p:transition spd="med">
    <p:fade/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the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Observed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Frame numbers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Filters used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Measured times and 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What the evidence suggests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Alternative explanations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Confidence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Next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Further captures needed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Owner and system to check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Limitations of this 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  <p:transition spd="med">
    <p:fade/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18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Begin with scope and a baseline, then focus with endpoints, filters, time and graphs.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 CSV and packet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  <p:transition spd="med">
    <p:fade/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EXPECTED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Evidence — Lab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503" y="3283503"/>
            <a:ext cx="10076688" cy="122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18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3338367"/>
            <a:ext cx="9966960" cy="1113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Produced by TShark 4.6 from this lab's own synthetic capture with the lab filter(s) applied — your packet list should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  <p:transition spd="med">
    <p:fade/>
  </p:transition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your lab workspace. Open this lab folder in a terminal. Windows uses py -3 in place of python3. Wireshark GUI alone is sufficient for the investigation; CLI scripts require TShark on PATH. Run the fixture verification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scripts/verify.py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  <p:transition spd="med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Open data/branch-office.pcap. Read assets/incident-ticket.md. Use Statistics &gt; Conversations, filters and Expert Information to identify the failing /fault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  <p:transition spd="med">
    <p:fade/>
  </p:transition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evidence for the DNS delay, slow HTTP response, retransmission, zero window and port 81 refusal. Use exact frames and elapsed times rather than a claim that every symptom has one cause.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  <p:transition spd="med">
    <p:fade/>
  </p:transition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assets/report-template.md and save as outputs/incident-report.md. Include scope, timeline, observations, competing explanations, next capture placement and a client-safe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  <p:transition spd="med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assets/ten-step-checklist.md to review the report. Re-run scripts/verify.py. Exchange reports with another learner and check that every conclusion can be traced to a packet or is explicitly a hypothesis.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  <p:transition spd="med">
    <p:fade/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9235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Export a reproducible packet table. Record the filter, frame numbers, measurement, explanation and limitation in outputs/findings.md.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977639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09651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scripts/export_evidence.py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  <p:transition spd="med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Produce an evidence-led incident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supplied http.response.code == 500 expression matches 1 frame(s) in the specified capture. Run scripts/verify.py and compare the listed frame numbers. Keep your findings and exported table in outputs/. Explain the observed result rather than only copying a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  <p:transition spd="med">
    <p:fade/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Ten Troubleshooting Steps and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report observed facts, hypotheses and next actions with defensible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Begin with scope and a baseline, then focus with endpoints, filters, time and graphs.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Separate observed facts from hypotheses and specify what new evidence would test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useful report states affected flow, measurement, impact, recommended action and uncertainty.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  <p:transition spd="med">
    <p:fade/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  <p:transition spd="med">
    <p:fade/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Capture &amp; profile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Plan scoped captures and configure a reproducible analyst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Navigate &amp; time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Navigate, filter, summarize and time network exchanges.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Core protocols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Interpret DNS, ARP, IPv4, ICMP and UDP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TCP &amp;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Diagnose TCP and application behaviour, including HTTP and authorised TLS inspection.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 reporting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Report observed facts, hypotheses and next actions with defensible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  <p:transition spd="med">
    <p:fade/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 course material stays on the LMS at https://lms-tms.tertiaryinfotech.com.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18 labs and their captures are in the course GitHub repository — re-run them any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ten-step troubleshooting checklist to an authorised capture at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networking and cyber-security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  <p:transition spd="med">
    <p:fade/>
  </p:transition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  <p:transition spd="med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Keep the evidence, explain the uncertainty — and keep practising with the 18 labs on your own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Wireshark Network Analysis Masterclass (C1123)  ·  C1123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